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
  </p:notesMasterIdLst>
  <p:sldIdLst>
    <p:sldId id="256" r:id="rId2"/>
    <p:sldId id="257" r:id="rId3"/>
    <p:sldId id="264" r:id="rId4"/>
    <p:sldId id="269" r:id="rId5"/>
    <p:sldId id="259" r:id="rId6"/>
    <p:sldId id="266" r:id="rId7"/>
    <p:sldId id="2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2EB46A-26D9-4B79-A0BA-94F0685D32D0}" type="datetimeFigureOut">
              <a:rPr lang="en-US" smtClean="0"/>
              <a:t>10/13/2026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0B1D7-2D89-41AD-A35D-8CABD3C8F5C7}" type="slidenum">
              <a:rPr lang="en-US" smtClean="0"/>
              <a:t>‹#›</a:t>
            </a:fld>
            <a:endParaRPr lang="en-US"/>
          </a:p>
        </p:txBody>
      </p:sp>
    </p:spTree>
    <p:extLst>
      <p:ext uri="{BB962C8B-B14F-4D97-AF65-F5344CB8AC3E}">
        <p14:creationId xmlns:p14="http://schemas.microsoft.com/office/powerpoint/2010/main" val="1948375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E520A89-1EA5-4B48-949C-8D49FA71E17A}" type="datetime1">
              <a:rPr lang="en-US" smtClean="0"/>
              <a:t>10/13/2026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A0E909-4676-4DFF-ACF3-65FD721A0C35}" type="datetime1">
              <a:rPr lang="en-US" smtClean="0"/>
              <a:t>10/13/2026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3A0D50A7-FC51-45F0-ACE8-52BE692F1158}" type="datetime1">
              <a:rPr lang="en-US" smtClean="0"/>
              <a:t>10/13/2026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166EF69A-9B98-48A6-8714-D502F21C59AC}" type="datetime1">
              <a:rPr lang="en-US" smtClean="0"/>
              <a:t>10/13/2026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2F68901D-AE11-453B-BAB5-EBEBF3FD6D52}" type="datetime1">
              <a:rPr lang="en-US" smtClean="0"/>
              <a:t>10/13/2026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C6EFD338-D2AE-4808-B786-CD8FFD22129C}" type="datetime1">
              <a:rPr lang="en-US" smtClean="0"/>
              <a:t>10/13/2026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9C5FCE24-E184-4609-AA44-1D31475DE58F}" type="datetime1">
              <a:rPr lang="en-US" smtClean="0"/>
              <a:t>10/13/2026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D2F83FF-62C9-4D61-84C4-3D92576553DA}" type="datetime1">
              <a:rPr lang="en-US" smtClean="0"/>
              <a:t>10/13/2026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C872C22-043C-453D-BC8F-50D3C2C8D791}" type="datetime1">
              <a:rPr lang="en-US" smtClean="0"/>
              <a:t>10/13/2026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0F6FA3-7D56-4F82-BC8C-4558DAB8F5A1}" type="datetime1">
              <a:rPr lang="en-US" smtClean="0"/>
              <a:t>10/13/2026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9966328A-B452-492B-B140-676AC5719AC5}" type="datetime1">
              <a:rPr lang="en-US" smtClean="0"/>
              <a:t>10/13/2026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2448" y="652145"/>
            <a:ext cx="9163372" cy="2316480"/>
          </a:xfrm>
        </p:spPr>
        <p:txBody>
          <a:bodyPr/>
          <a:lstStyle/>
          <a:p>
            <a:r>
              <a:rPr lang="en-US" sz="2000" b="1" dirty="0"/>
              <a:t>MACHINE LEARNING </a:t>
            </a:r>
            <a:r>
              <a:rPr sz="2000" b="1" dirty="0"/>
              <a:t>(25CS2104E)</a:t>
            </a:r>
            <a:br>
              <a:rPr dirty="0"/>
            </a:br>
            <a:br>
              <a:rPr dirty="0"/>
            </a:br>
            <a:r>
              <a:rPr sz="2000" b="1" dirty="0"/>
              <a:t>Carbon Emission Prediction Using Elastic Net Regression with Feature Scaling</a:t>
            </a:r>
          </a:p>
        </p:txBody>
      </p:sp>
      <p:sp>
        <p:nvSpPr>
          <p:cNvPr id="3" name="Subtitle 2"/>
          <p:cNvSpPr>
            <a:spLocks noGrp="1"/>
          </p:cNvSpPr>
          <p:nvPr>
            <p:ph type="subTitle" idx="1"/>
          </p:nvPr>
        </p:nvSpPr>
        <p:spPr>
          <a:xfrm>
            <a:off x="6640015" y="4846321"/>
            <a:ext cx="5384800" cy="1913890"/>
          </a:xfrm>
        </p:spPr>
        <p:txBody>
          <a:bodyPr/>
          <a:lstStyle/>
          <a:p>
            <a:r>
              <a:rPr sz="1600" b="0" dirty="0"/>
              <a:t>Team Members:</a:t>
            </a:r>
            <a:br>
              <a:rPr dirty="0"/>
            </a:br>
            <a:r>
              <a:rPr sz="1600" b="0" dirty="0"/>
              <a:t>N. </a:t>
            </a:r>
            <a:r>
              <a:rPr sz="1600" b="0" dirty="0" err="1"/>
              <a:t>SaiNath</a:t>
            </a:r>
            <a:r>
              <a:rPr sz="1600" b="0" dirty="0"/>
              <a:t> Reddy — 2520090115</a:t>
            </a:r>
            <a:br>
              <a:rPr dirty="0"/>
            </a:br>
            <a:r>
              <a:rPr sz="1600" b="0" dirty="0"/>
              <a:t>T. Sai </a:t>
            </a:r>
            <a:r>
              <a:rPr sz="1600" b="0" dirty="0" err="1"/>
              <a:t>krishna</a:t>
            </a:r>
            <a:r>
              <a:rPr sz="1600" b="0" dirty="0"/>
              <a:t> — 2520090156</a:t>
            </a:r>
            <a:endParaRPr lang="en-US" sz="1600" b="0" dirty="0"/>
          </a:p>
          <a:p>
            <a:r>
              <a:rPr lang="en-IN" sz="1600" dirty="0" err="1"/>
              <a:t>p.suvishalpatel</a:t>
            </a:r>
            <a:r>
              <a:rPr lang="en-IN" sz="1600" dirty="0"/>
              <a:t> —2520090195</a:t>
            </a:r>
            <a:endParaRPr sz="1600" b="0" dirty="0"/>
          </a:p>
        </p:txBody>
      </p:sp>
      <p:sp>
        <p:nvSpPr>
          <p:cNvPr id="5" name="TextBox 4">
            <a:extLst>
              <a:ext uri="{FF2B5EF4-FFF2-40B4-BE49-F238E27FC236}">
                <a16:creationId xmlns:a16="http://schemas.microsoft.com/office/drawing/2014/main" id="{D2F78912-86E2-3DFA-A0B9-1E6CB3A9493D}"/>
              </a:ext>
            </a:extLst>
          </p:cNvPr>
          <p:cNvSpPr txBox="1"/>
          <p:nvPr/>
        </p:nvSpPr>
        <p:spPr>
          <a:xfrm>
            <a:off x="167185" y="4846321"/>
            <a:ext cx="4391167" cy="1508105"/>
          </a:xfrm>
          <a:prstGeom prst="rect">
            <a:avLst/>
          </a:prstGeom>
          <a:noFill/>
        </p:spPr>
        <p:txBody>
          <a:bodyPr wrap="square">
            <a:spAutoFit/>
          </a:bodyPr>
          <a:lstStyle/>
          <a:p>
            <a:pPr algn="ctr"/>
            <a:r>
              <a:rPr sz="1600" b="0"/>
              <a:t>Under the Esteemed Guidance of</a:t>
            </a:r>
            <a:br/>
            <a:br/>
            <a:r>
              <a:rPr sz="1600" b="0"/>
              <a:t>Dyuthi Banerjee, Assistant Professor, CS&amp;IT</a:t>
            </a:r>
            <a:endParaRPr lang="en-IN" sz="2400" kern="100" dirty="0">
              <a:latin typeface="Calibri" panose="020F0502020204030204" pitchFamily="34" charset="0"/>
              <a:ea typeface="Calibri" panose="020F0502020204030204" pitchFamily="34" charset="0"/>
              <a:cs typeface="Gautami" panose="020B050204020402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736109" y="806448"/>
            <a:ext cx="6936386" cy="3735253"/>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7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7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704020202020204" pitchFamily="34" charset="0"/>
            </a:endParaRP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dirty="0">
                <a:solidFill>
                  <a:srgbClr val="000000"/>
                </a:solidFill>
                <a:latin typeface="Calibri" panose="020F0502020204030204" pitchFamily="34" charset="0"/>
                <a:cs typeface="Gautami" panose="020B0502040204020203" pitchFamily="34" charset="0"/>
              </a:rPr>
              <a:t>System Architecture</a:t>
            </a:r>
            <a:endParaRPr lang="en-IN" sz="3200" b="0" i="0" u="none" strike="noStrike" dirty="0">
              <a:effectLst/>
              <a:latin typeface="Arial" panose="020B0704020202020204" pitchFamily="34" charset="0"/>
            </a:endParaRP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endParaRPr lang="en-IN" dirty="0"/>
          </a:p>
        </p:txBody>
      </p:sp>
      <p:sp>
        <p:nvSpPr>
          <p:cNvPr id="8" name="Rectangle: Rounded Corners 7"/>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660072" y="221673"/>
            <a:ext cx="6871855" cy="584775"/>
          </a:xfrm>
          <a:prstGeom prst="rect">
            <a:avLst/>
          </a:prstGeom>
          <a:noFill/>
        </p:spPr>
        <p:txBody>
          <a:bodyPr wrap="square" rtlCol="0">
            <a:spAutoFit/>
          </a:bodyPr>
          <a:lstStyle/>
          <a:p>
            <a:pPr algn="ctr"/>
            <a:r>
              <a:rPr sz="2400" b="1"/>
              <a:t>Contents</a:t>
            </a:r>
          </a:p>
        </p:txBody>
      </p:sp>
      <p:sp>
        <p:nvSpPr>
          <p:cNvPr id="3" name="Slide Number Placeholder 2">
            <a:extLst>
              <a:ext uri="{FF2B5EF4-FFF2-40B4-BE49-F238E27FC236}">
                <a16:creationId xmlns:a16="http://schemas.microsoft.com/office/drawing/2014/main" id="{CF031D3A-8519-E357-DDA9-EAECFBBAEB51}"/>
              </a:ext>
            </a:extLst>
          </p:cNvPr>
          <p:cNvSpPr>
            <a:spLocks noGrp="1"/>
          </p:cNvSpPr>
          <p:nvPr>
            <p:ph type="sldNum" sz="quarter" idx="12"/>
          </p:nvPr>
        </p:nvSpPr>
        <p:spPr/>
        <p:txBody>
          <a:bodyPr/>
          <a:lstStyle/>
          <a:p>
            <a:fld id="{7EED5C5B-9EF4-44F9-8A5E-F9CA765F3D63}"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21970"/>
          </a:xfrm>
          <a:prstGeom prst="rect">
            <a:avLst/>
          </a:prstGeom>
          <a:noFill/>
        </p:spPr>
        <p:txBody>
          <a:bodyPr wrap="square" rtlCol="0">
            <a:spAutoFit/>
          </a:bodyPr>
          <a:lstStyle/>
          <a:p>
            <a:pPr algn="ctr"/>
            <a:r>
              <a:rPr lang="en-US" sz="2800" b="1" dirty="0">
                <a:solidFill>
                  <a:schemeClr val="bg1"/>
                </a:solidFill>
              </a:rPr>
              <a:t>Abstract</a:t>
            </a:r>
          </a:p>
        </p:txBody>
      </p:sp>
      <p:sp>
        <p:nvSpPr>
          <p:cNvPr id="7" name="TextBox 6"/>
          <p:cNvSpPr txBox="1"/>
          <p:nvPr/>
        </p:nvSpPr>
        <p:spPr>
          <a:xfrm>
            <a:off x="2272144" y="1274618"/>
            <a:ext cx="6173355" cy="4401205"/>
          </a:xfrm>
          <a:prstGeom prst="rect">
            <a:avLst/>
          </a:prstGeom>
          <a:noFill/>
        </p:spPr>
        <p:txBody>
          <a:bodyPr wrap="square">
            <a:spAutoFit/>
          </a:bodyPr>
          <a:lstStyle/>
          <a:p>
            <a:r>
              <a:rPr sz="2000" dirty="0"/>
              <a:t>The project predicts carbon emissions using Elastic Net Regression with Feature Scaling. Input factors include energy consumption, industrial production, transportation activity, population growth, GDP, renewable-energy usage, and other environmental indicators. Elastic Net combines L1 (Lasso) and L2 (Ridge) regularization to handle multicollinearity while supporting feature selection. Standardization is applied so variables with different numerical magnitudes contribute fairly during model training. The workflow includes preprocessing, missing-value handling, encoding when required, train-test splitting, model training, cross-validation, and evaluation using R² Score, MAE, and RMSE.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E3377-AD48-C317-56EF-BB6DEA41CB0F}"/>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E7DFF9B-AF13-3CBC-C2B1-8156A6C27ADB}"/>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42E30A3-627A-0C0D-8E68-FFD84EF51DAA}"/>
              </a:ext>
            </a:extLst>
          </p:cNvPr>
          <p:cNvSpPr txBox="1"/>
          <p:nvPr/>
        </p:nvSpPr>
        <p:spPr>
          <a:xfrm>
            <a:off x="2660072" y="221673"/>
            <a:ext cx="6871855" cy="521970"/>
          </a:xfrm>
          <a:prstGeom prst="rect">
            <a:avLst/>
          </a:prstGeom>
          <a:noFill/>
        </p:spPr>
        <p:txBody>
          <a:bodyPr wrap="square" rtlCol="0">
            <a:spAutoFit/>
          </a:bodyPr>
          <a:lstStyle/>
          <a:p>
            <a:pPr algn="ctr"/>
            <a:r>
              <a:rPr lang="en-US" sz="2800" b="1" dirty="0">
                <a:solidFill>
                  <a:schemeClr val="bg1"/>
                </a:solidFill>
              </a:rPr>
              <a:t>Introduction</a:t>
            </a:r>
          </a:p>
        </p:txBody>
      </p:sp>
      <p:sp>
        <p:nvSpPr>
          <p:cNvPr id="5" name="Date Placeholder 4">
            <a:extLst>
              <a:ext uri="{FF2B5EF4-FFF2-40B4-BE49-F238E27FC236}">
                <a16:creationId xmlns:a16="http://schemas.microsoft.com/office/drawing/2014/main" id="{1FE559BE-24A9-DD17-5994-3CA09176D0C0}"/>
              </a:ext>
            </a:extLst>
          </p:cNvPr>
          <p:cNvSpPr>
            <a:spLocks noGrp="1"/>
          </p:cNvSpPr>
          <p:nvPr>
            <p:ph type="dt" sz="half" idx="10"/>
          </p:nvPr>
        </p:nvSpPr>
        <p:spPr/>
        <p:txBody>
          <a:bodyPr/>
          <a:lstStyle/>
          <a:p>
            <a:endParaRPr/>
          </a:p>
        </p:txBody>
      </p:sp>
      <p:sp>
        <p:nvSpPr>
          <p:cNvPr id="6" name="Slide Number Placeholder 5">
            <a:extLst>
              <a:ext uri="{FF2B5EF4-FFF2-40B4-BE49-F238E27FC236}">
                <a16:creationId xmlns:a16="http://schemas.microsoft.com/office/drawing/2014/main" id="{917CD269-83F2-F4C5-3099-E35078586FE9}"/>
              </a:ext>
            </a:extLst>
          </p:cNvPr>
          <p:cNvSpPr>
            <a:spLocks noGrp="1"/>
          </p:cNvSpPr>
          <p:nvPr>
            <p:ph type="sldNum" sz="quarter" idx="12"/>
          </p:nvPr>
        </p:nvSpPr>
        <p:spPr/>
        <p:txBody>
          <a:bodyPr/>
          <a:lstStyle/>
          <a:p>
            <a:endParaRPr/>
          </a:p>
        </p:txBody>
      </p:sp>
      <p:sp>
        <p:nvSpPr>
          <p:cNvPr id="7" name="TextBox 6"/>
          <p:cNvSpPr txBox="1"/>
          <p:nvPr/>
        </p:nvSpPr>
        <p:spPr>
          <a:xfrm>
            <a:off x="3061854" y="2175164"/>
            <a:ext cx="7129317" cy="3477875"/>
          </a:xfrm>
          <a:prstGeom prst="rect">
            <a:avLst/>
          </a:prstGeom>
          <a:noFill/>
        </p:spPr>
        <p:txBody>
          <a:bodyPr wrap="square">
            <a:spAutoFit/>
          </a:bodyPr>
          <a:lstStyle/>
          <a:p>
            <a:pPr algn="just"/>
            <a:r>
              <a:rPr sz="2000" dirty="0"/>
              <a:t>Carbon emissions are influenced by interconnected factors such as industrial activity, fossil-fuel consumption, transportation, economic growth, energy production, and renewable-energy adoption. Governments and industries need reliable forecasts to support emission-reduction and sustainable-development planning. Strong correlations among these variables can make conventional regression models unstable. Elastic Net combines the strengths of Ridge and Lasso regression, while StandardScaler improves convergence by putting features on a comparable numerical scale. The objective is to build and evaluate an accurate, reliable carbon-emission prediction model.</a:t>
            </a:r>
          </a:p>
        </p:txBody>
      </p:sp>
    </p:spTree>
    <p:extLst>
      <p:ext uri="{BB962C8B-B14F-4D97-AF65-F5344CB8AC3E}">
        <p14:creationId xmlns:p14="http://schemas.microsoft.com/office/powerpoint/2010/main" val="4016184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596004" y="221615"/>
            <a:ext cx="6374349" cy="52959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Box 3"/>
          <p:cNvSpPr txBox="1"/>
          <p:nvPr/>
        </p:nvSpPr>
        <p:spPr>
          <a:xfrm>
            <a:off x="3970655" y="221615"/>
            <a:ext cx="6374348" cy="671195"/>
          </a:xfrm>
          <a:prstGeom prst="rect">
            <a:avLst/>
          </a:prstGeom>
          <a:noFill/>
        </p:spPr>
        <p:txBody>
          <a:bodyPr wrap="square" rtlCol="0">
            <a:noAutofit/>
          </a:bodyPr>
          <a:lstStyle/>
          <a:p>
            <a:r>
              <a:rPr lang="en-US" altLang="en-US" sz="2800" b="1" dirty="0">
                <a:solidFill>
                  <a:schemeClr val="bg1"/>
                </a:solidFill>
              </a:rPr>
              <a:t>Hardware and Software requirements</a:t>
            </a:r>
          </a:p>
        </p:txBody>
      </p:sp>
      <p:sp>
        <p:nvSpPr>
          <p:cNvPr id="5" name="Text Box 4"/>
          <p:cNvSpPr txBox="1"/>
          <p:nvPr/>
        </p:nvSpPr>
        <p:spPr>
          <a:xfrm>
            <a:off x="3311236" y="1454726"/>
            <a:ext cx="8506690" cy="4765965"/>
          </a:xfrm>
          <a:prstGeom prst="rect">
            <a:avLst/>
          </a:prstGeom>
          <a:noFill/>
        </p:spPr>
        <p:txBody>
          <a:bodyPr wrap="square" rtlCol="0">
            <a:noAutofit/>
          </a:bodyPr>
          <a:lstStyle/>
          <a:p>
            <a:r>
              <a:rPr sz="1400" b="0" dirty="0"/>
              <a:t>SOFTWARE REQUIREMENTS</a:t>
            </a:r>
            <a:br>
              <a:rPr sz="1400" dirty="0"/>
            </a:br>
            <a:r>
              <a:rPr sz="1400" b="0" dirty="0"/>
              <a:t>Operating System: Windows 10/11, Linux, or macOS</a:t>
            </a:r>
            <a:r>
              <a:rPr lang="en-US" sz="1400" dirty="0"/>
              <a:t> HARDWARE REQUIREMENTS</a:t>
            </a:r>
            <a:br>
              <a:rPr lang="en-US" sz="1400" dirty="0"/>
            </a:br>
            <a:r>
              <a:rPr lang="en-US" sz="1400" dirty="0"/>
              <a:t>Standard laptop or desktop computer</a:t>
            </a:r>
            <a:br>
              <a:rPr lang="en-US" sz="1400" dirty="0"/>
            </a:br>
            <a:r>
              <a:rPr lang="en-US" sz="1400" dirty="0"/>
              <a:t>Minimum RAM: 4 GB</a:t>
            </a:r>
            <a:br>
              <a:rPr lang="en-US" sz="1400" dirty="0"/>
            </a:br>
            <a:r>
              <a:rPr lang="en-US" sz="1400" dirty="0"/>
              <a:t>Recommended RAM: 8 GB</a:t>
            </a:r>
            <a:br>
              <a:rPr lang="en-US" sz="1400" dirty="0"/>
            </a:br>
            <a:r>
              <a:rPr lang="en-US" sz="1400" dirty="0"/>
              <a:t>Sufficient storage for dataset, Python environment, notebooks, and project files</a:t>
            </a:r>
            <a:br>
              <a:rPr lang="en-US" sz="1400" dirty="0"/>
            </a:br>
            <a:r>
              <a:rPr lang="en-US" sz="1400" dirty="0"/>
              <a:t>Internet connection useful for Colab, package installation, GitHub, and dataset access</a:t>
            </a:r>
            <a:br>
              <a:rPr sz="1400" dirty="0"/>
            </a:br>
            <a:r>
              <a:rPr sz="1400" b="0" dirty="0"/>
              <a:t>Python 3.8 or above</a:t>
            </a:r>
            <a:br>
              <a:rPr sz="1400" dirty="0"/>
            </a:br>
            <a:r>
              <a:rPr sz="1400" b="0" dirty="0"/>
              <a:t>Jupyter Notebook / Google Colab / Visual Studio Code</a:t>
            </a:r>
            <a:br>
              <a:rPr sz="1400" dirty="0"/>
            </a:br>
            <a:r>
              <a:rPr sz="1400" b="0" dirty="0"/>
              <a:t>NumPy, Pandas, Scikit-learn, Matplotlib, Seaborn</a:t>
            </a:r>
            <a:br>
              <a:rPr sz="1400" dirty="0"/>
            </a:br>
            <a:r>
              <a:rPr sz="1400" b="0" dirty="0"/>
              <a:t>Algorithm: Elastic Net Regression</a:t>
            </a:r>
            <a:br>
              <a:rPr sz="1400" dirty="0"/>
            </a:br>
            <a:r>
              <a:rPr sz="1400" b="0" dirty="0"/>
              <a:t>Feature Scaling: StandardScaler</a:t>
            </a:r>
            <a:br>
              <a:rPr sz="1400" dirty="0"/>
            </a:br>
            <a:r>
              <a:rPr sz="1400" b="0" dirty="0"/>
              <a:t>Version Control: Git and GitHub</a:t>
            </a:r>
            <a:br>
              <a:rPr sz="1400" dirty="0"/>
            </a:br>
            <a:r>
              <a:rPr sz="1400" b="0" dirty="0"/>
              <a:t>Documentation: Microsoft Word</a:t>
            </a:r>
            <a:endParaRPr lang="en-US" sz="1400" b="0" dirty="0"/>
          </a:p>
          <a:p>
            <a:br>
              <a:rPr sz="1400" dirty="0"/>
            </a:br>
            <a:br>
              <a:rPr sz="1400" dirty="0"/>
            </a:br>
            <a:r>
              <a:rPr lang="en-US" sz="1400" b="0" dirty="0"/>
              <a:t>HARDWARE REQUIREMENTS</a:t>
            </a:r>
            <a:br>
              <a:rPr lang="en-US" sz="1400" dirty="0"/>
            </a:br>
            <a:r>
              <a:rPr lang="en-US" sz="1400" b="0" dirty="0"/>
              <a:t>Standard laptop or desktop computer</a:t>
            </a:r>
            <a:br>
              <a:rPr lang="en-US" sz="1400" dirty="0"/>
            </a:br>
            <a:r>
              <a:rPr lang="en-US" sz="1400" b="0" dirty="0"/>
              <a:t>Minimum RAM: 4 GB</a:t>
            </a:r>
            <a:br>
              <a:rPr lang="en-US" sz="1400" dirty="0"/>
            </a:br>
            <a:r>
              <a:rPr lang="en-US" sz="1400" b="0" dirty="0"/>
              <a:t>Recommended RAM: 8 GB</a:t>
            </a:r>
            <a:br>
              <a:rPr lang="en-US" sz="1400" dirty="0"/>
            </a:br>
            <a:r>
              <a:rPr lang="en-US" sz="1400" b="0" dirty="0"/>
              <a:t>Sufficient storage for dataset, Python environment, notebooks, and project files</a:t>
            </a:r>
            <a:br>
              <a:rPr lang="en-US" sz="1400" dirty="0"/>
            </a:br>
            <a:r>
              <a:rPr lang="en-US" sz="1400" b="0" dirty="0"/>
              <a:t>Internet connection useful for Colab, package installation, GitHub, and dataset access</a:t>
            </a:r>
            <a:endParaRPr sz="1400" b="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197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 System Architecture</a:t>
            </a:r>
            <a:endParaRPr lang="en-US" sz="2800" b="1" dirty="0">
              <a:solidFill>
                <a:schemeClr val="bg1"/>
              </a:solidFill>
            </a:endParaRPr>
          </a:p>
        </p:txBody>
      </p:sp>
      <p:sp>
        <p:nvSpPr>
          <p:cNvPr id="7" name="TextBox 6"/>
          <p:cNvSpPr txBox="1"/>
          <p:nvPr/>
        </p:nvSpPr>
        <p:spPr>
          <a:xfrm>
            <a:off x="3851564" y="906353"/>
            <a:ext cx="7860145" cy="5632311"/>
          </a:xfrm>
          <a:prstGeom prst="rect">
            <a:avLst/>
          </a:prstGeom>
          <a:noFill/>
        </p:spPr>
        <p:txBody>
          <a:bodyPr wrap="square">
            <a:spAutoFit/>
          </a:bodyPr>
          <a:lstStyle/>
          <a:p>
            <a:r>
              <a:rPr sz="2000" dirty="0"/>
              <a:t>Dataset</a:t>
            </a:r>
            <a:br>
              <a:rPr sz="2000" dirty="0"/>
            </a:br>
            <a:r>
              <a:rPr sz="2000" dirty="0"/>
              <a:t>↓</a:t>
            </a:r>
            <a:br>
              <a:rPr sz="2000" dirty="0"/>
            </a:br>
            <a:r>
              <a:rPr sz="2000" dirty="0"/>
              <a:t>Data Preprocessing</a:t>
            </a:r>
            <a:br>
              <a:rPr sz="2000" dirty="0"/>
            </a:br>
            <a:r>
              <a:rPr sz="2000" dirty="0"/>
              <a:t>• Missing-value handling</a:t>
            </a:r>
            <a:br>
              <a:rPr sz="2000" dirty="0"/>
            </a:br>
            <a:r>
              <a:rPr sz="2000" dirty="0"/>
              <a:t>• Encoding when required</a:t>
            </a:r>
            <a:br>
              <a:rPr sz="2000" dirty="0"/>
            </a:br>
            <a:r>
              <a:rPr sz="2000" dirty="0"/>
              <a:t>↓</a:t>
            </a:r>
            <a:br>
              <a:rPr sz="2000" dirty="0"/>
            </a:br>
            <a:r>
              <a:rPr sz="2000" dirty="0"/>
              <a:t>Feature Scaling using StandardScaler</a:t>
            </a:r>
            <a:br>
              <a:rPr sz="2000" dirty="0"/>
            </a:br>
            <a:r>
              <a:rPr sz="2000" dirty="0"/>
              <a:t>↓</a:t>
            </a:r>
            <a:br>
              <a:rPr sz="2000" dirty="0"/>
            </a:br>
            <a:r>
              <a:rPr sz="2000" dirty="0"/>
              <a:t>Train–Test Split</a:t>
            </a:r>
            <a:br>
              <a:rPr sz="2000" dirty="0"/>
            </a:br>
            <a:r>
              <a:rPr sz="2000" dirty="0"/>
              <a:t>↓</a:t>
            </a:r>
            <a:br>
              <a:rPr sz="2000" dirty="0"/>
            </a:br>
            <a:r>
              <a:rPr sz="2000" dirty="0"/>
              <a:t>Elastic Net Regression</a:t>
            </a:r>
            <a:br>
              <a:rPr sz="2000" dirty="0"/>
            </a:br>
            <a:r>
              <a:rPr sz="2000" dirty="0"/>
              <a:t>(L1 + L2 Regularization)</a:t>
            </a:r>
            <a:br>
              <a:rPr sz="2000" dirty="0"/>
            </a:br>
            <a:r>
              <a:rPr sz="2000" dirty="0"/>
              <a:t>↓</a:t>
            </a:r>
            <a:br>
              <a:rPr sz="2000" dirty="0"/>
            </a:br>
            <a:r>
              <a:rPr sz="2000" dirty="0"/>
              <a:t>Cross-Validation &amp; Model Evaluation</a:t>
            </a:r>
            <a:br>
              <a:rPr sz="2000" dirty="0"/>
            </a:br>
            <a:r>
              <a:rPr sz="2000" dirty="0"/>
              <a:t>↓</a:t>
            </a:r>
            <a:br>
              <a:rPr sz="2000" dirty="0"/>
            </a:br>
            <a:r>
              <a:rPr sz="2000" dirty="0"/>
              <a:t>R² Score • MAE • RMSE</a:t>
            </a:r>
            <a:br>
              <a:rPr sz="2000" dirty="0"/>
            </a:br>
            <a:r>
              <a:rPr sz="2000" dirty="0"/>
              <a:t>↓</a:t>
            </a:r>
            <a:br>
              <a:rPr sz="2000" dirty="0"/>
            </a:br>
            <a:r>
              <a:rPr sz="2000" dirty="0"/>
              <a:t>Carbon Emission Prediction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251197" y="4452189"/>
            <a:ext cx="4946253" cy="1273751"/>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400" b="1" dirty="0"/>
              <a:t>Conclusion &amp; Thank You</a:t>
            </a:r>
          </a:p>
        </p:txBody>
      </p:sp>
      <p:sp>
        <p:nvSpPr>
          <p:cNvPr id="5" name="TextBox 4"/>
          <p:cNvSpPr txBox="1"/>
          <p:nvPr/>
        </p:nvSpPr>
        <p:spPr>
          <a:xfrm>
            <a:off x="1831109" y="2894733"/>
            <a:ext cx="8920018" cy="1015663"/>
          </a:xfrm>
          <a:prstGeom prst="rect">
            <a:avLst/>
          </a:prstGeom>
          <a:noFill/>
        </p:spPr>
        <p:txBody>
          <a:bodyPr wrap="square">
            <a:spAutoFit/>
          </a:bodyPr>
          <a:lstStyle/>
          <a:p>
            <a:r>
              <a:rPr sz="2000" dirty="0"/>
              <a:t>The proposed system uses Elastic Net Regression with StandardScaler to predict carbon emissions from key environmental, economic, energy, and transportation factors. Model performance is evaluated using R² Score, MAE, and RMSE.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538</Words>
  <Application>Microsoft Office PowerPoint</Application>
  <PresentationFormat>Widescreen</PresentationFormat>
  <Paragraphs>22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Times New Roman</vt:lpstr>
      <vt:lpstr>Office Theme</vt:lpstr>
      <vt:lpstr>MACHINE LEARNING (25CS2104E)  Carbon Emission Prediction Using Elastic Net Regression with Feature Scaling</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sai nath reddy</cp:lastModifiedBy>
  <cp:revision>25</cp:revision>
  <dcterms:created xsi:type="dcterms:W3CDTF">2026-08-31T05:18:20Z</dcterms:created>
  <dcterms:modified xsi:type="dcterms:W3CDTF">2026-10-13T11:47:50Z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2E321512259BCFD0FA0C956AC94F79BD_43</vt:lpwstr>
  </property>
  <property fmtid="{D5CDD505-2E9C-101B-9397-08002B2CF9AE}" pid="3" name="KSOProductBuildVer">
    <vt:lpwstr>1033-12.1.26050.26050</vt:lpwstr>
  </property>
</Properties>
</file>